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50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0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03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18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498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40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65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7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35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85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50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8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56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31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470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147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8687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075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3610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87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372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3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737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7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508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90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  <p:sldLayoutId id="2147483870" r:id="rId18"/>
    <p:sldLayoutId id="2147483871" r:id="rId19"/>
    <p:sldLayoutId id="2147483872" r:id="rId20"/>
    <p:sldLayoutId id="2147483873" r:id="rId21"/>
    <p:sldLayoutId id="2147483874" r:id="rId22"/>
    <p:sldLayoutId id="2147483875" r:id="rId23"/>
    <p:sldLayoutId id="2147483876" r:id="rId24"/>
    <p:sldLayoutId id="2147483877" r:id="rId25"/>
    <p:sldLayoutId id="2147483878" r:id="rId26"/>
    <p:sldLayoutId id="214748387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78815" y="-322427"/>
            <a:ext cx="12191695" cy="6858000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2208" y="2263021"/>
            <a:ext cx="6488315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ShopSphere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ETL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760984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• Data Quality • Dimensional Modeling • Analytics • Optimization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pipeline: RAW → STAGING → CURATED → ANALYTICS →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484"/>
                </a:solidFill>
              </a:rPr>
              <a:t>ShopSphere Data Engineering Capstone  | 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BE7A7-0431-BB62-6160-9E5939174884}"/>
              </a:ext>
            </a:extLst>
          </p:cNvPr>
          <p:cNvSpPr/>
          <p:nvPr/>
        </p:nvSpPr>
        <p:spPr>
          <a:xfrm>
            <a:off x="236975" y="1420894"/>
            <a:ext cx="6397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RISHIKESH MORE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C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Transform imperfect e-commerce source data into a trusted analytics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47472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45919"/>
            <a:ext cx="3108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Business Need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ShopSphere needs reliable customer, order, product, payment and shipment data for reporting and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3474720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19"/>
            <a:ext cx="3108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Engineering Goal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Profile raw data, clean and validate it, build dimensions and a fact table, then expose reusable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4290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508760"/>
            <a:ext cx="73152" cy="3474720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645919"/>
            <a:ext cx="3108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Quality Goal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Make anomalies visible instead of silently hiding them, while preventing invalid records from contaminating curated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24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2. Source Data &amp;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Eight raw tables were loaded into the shopsphere_raw schema.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77724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64591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customers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12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0876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66160" y="1508760"/>
            <a:ext cx="73152" cy="777240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67328" y="164591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customer_addresses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12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50876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79" y="1508760"/>
            <a:ext cx="73152" cy="777240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7" y="164591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categories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7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50876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3999" y="1508760"/>
            <a:ext cx="73152" cy="777240"/>
          </a:xfrm>
          <a:prstGeom prst="rect">
            <a:avLst/>
          </a:prstGeom>
          <a:solidFill>
            <a:srgbClr val="32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5167" y="164591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products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14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6032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560320"/>
            <a:ext cx="73152" cy="77724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6974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orders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13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56032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66160" y="2560320"/>
            <a:ext cx="73152" cy="777240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67328" y="26974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order_items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19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256032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79" y="2560320"/>
            <a:ext cx="73152" cy="777240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56247" y="26974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payments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12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3999" y="2560320"/>
            <a:ext cx="251460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3999" y="2560320"/>
            <a:ext cx="73152" cy="777240"/>
          </a:xfrm>
          <a:prstGeom prst="rect">
            <a:avLst/>
          </a:prstGeom>
          <a:solidFill>
            <a:srgbClr val="32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45167" y="26974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shipments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12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886200"/>
            <a:ext cx="106984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3886200"/>
            <a:ext cx="73152" cy="1508760"/>
          </a:xfrm>
          <a:prstGeom prst="rect">
            <a:avLst/>
          </a:prstGeom>
          <a:solidFill>
            <a:srgbClr val="B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4023360"/>
            <a:ext cx="10378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Profiling findings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Examples include inconsistent email formatting and an orphan order item: order_item_id 19 references order_id 5014, which does not exist in the orders 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3.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Layered design separates source preservation, data quality, trusted modeling and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874519" cy="1554480"/>
          </a:xfrm>
          <a:prstGeom prst="round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1600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RAW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Source-preserving</a:t>
            </a:r>
            <a:br/>
            <a:r>
              <a:t>8 tables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96312" y="2651760"/>
            <a:ext cx="411480" cy="411480"/>
          </a:xfrm>
          <a:prstGeom prst="rightArrow">
            <a:avLst/>
          </a:prstGeom>
          <a:solidFill>
            <a:srgbClr val="66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79" y="2148840"/>
            <a:ext cx="1874519" cy="1554480"/>
          </a:xfrm>
          <a:prstGeom prst="round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2395728"/>
            <a:ext cx="1600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STAGING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Clean • Standardize</a:t>
            </a:r>
            <a:br/>
            <a:r>
              <a:t>Deduplicate • Flag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28031" y="2651760"/>
            <a:ext cx="411480" cy="411480"/>
          </a:xfrm>
          <a:prstGeom prst="rightArrow">
            <a:avLst/>
          </a:prstGeom>
          <a:solidFill>
            <a:srgbClr val="66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57800" y="2148840"/>
            <a:ext cx="1874519" cy="1554480"/>
          </a:xfrm>
          <a:prstGeom prst="round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0" y="2395728"/>
            <a:ext cx="1600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CURATED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Dimensions +</a:t>
            </a:r>
            <a:br/>
            <a:r>
              <a:t>fact_order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59752" y="2651760"/>
            <a:ext cx="411480" cy="411480"/>
          </a:xfrm>
          <a:prstGeom prst="rightArrow">
            <a:avLst/>
          </a:prstGeom>
          <a:solidFill>
            <a:srgbClr val="66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19" y="2148840"/>
            <a:ext cx="1874519" cy="1554480"/>
          </a:xfrm>
          <a:prstGeom prst="roundRect">
            <a:avLst/>
          </a:prstGeom>
          <a:solidFill>
            <a:srgbClr val="32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2395728"/>
            <a:ext cx="1600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Reusable business</a:t>
            </a:r>
            <a:br/>
            <a:r>
              <a:t>metrics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91472" y="2651760"/>
            <a:ext cx="411480" cy="411480"/>
          </a:xfrm>
          <a:prstGeom prst="rightArrow">
            <a:avLst/>
          </a:prstGeom>
          <a:solidFill>
            <a:srgbClr val="66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21240" y="2148840"/>
            <a:ext cx="1874519" cy="1554480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2395728"/>
            <a:ext cx="1600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BI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Charts &amp;</a:t>
            </a:r>
            <a:br/>
            <a:r>
              <a:t>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4. Preprocessing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38887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667484"/>
                </a:solidFill>
              </a:rPr>
              <a:t>The</a:t>
            </a:r>
            <a:r>
              <a:rPr sz="1200" dirty="0">
                <a:solidFill>
                  <a:srgbClr val="667484"/>
                </a:solidFill>
              </a:rPr>
              <a:t> staging layer keeps cleaning logic explicit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TRIM() removes leading/trailing whitespace from names, emails and text fields.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LOWER() standardizes email addresses; UPPER() standardizes status fields.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ROW_NUMBER() OVER (PARTITION BY … ORDER BY updated_at DESC) keeps the latest duplicate.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CASE expressions classify missing/invalid emails, order items, payments and shipments.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Order-item prices are corrected when they differ materially from the product master.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Invalid order items remain visible in staging but are excluded from curated 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5. Curated Dimensional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fact_order grain: one row per valid order item.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48840"/>
            <a:ext cx="297180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2148840"/>
            <a:ext cx="73152" cy="2011680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73168" y="2286000"/>
            <a:ext cx="2651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fact_order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order_id • order_item_id</a:t>
            </a:r>
            <a:br/>
            <a:r>
              <a:t>customer_key • product_key • address_key</a:t>
            </a:r>
            <a:br/>
            <a:r>
              <a:t>quantity • unit_price • discount • net_revenue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788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54480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dim_customer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customer_key</a:t>
            </a:r>
            <a:br/>
            <a:r>
              <a:t>customer_id</a:t>
            </a:r>
            <a:br/>
            <a:r>
              <a:t>full_name •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2788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73152" cy="1417320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4114800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dim_address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address_key</a:t>
            </a:r>
            <a:br/>
            <a:r>
              <a:t>address_id</a:t>
            </a:r>
            <a:br/>
            <a:r>
              <a:t>state • country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417320"/>
            <a:ext cx="2788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1417320"/>
            <a:ext cx="73152" cy="1417320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0808" y="1554480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dim_product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product_key</a:t>
            </a:r>
            <a:br/>
            <a:r>
              <a:t>product_id</a:t>
            </a:r>
            <a:br/>
            <a:r>
              <a:t>product_name • category_key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977639"/>
            <a:ext cx="2788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49640" y="3977639"/>
            <a:ext cx="73152" cy="1417320"/>
          </a:xfrm>
          <a:prstGeom prst="rect">
            <a:avLst/>
          </a:prstGeom>
          <a:solidFill>
            <a:srgbClr val="32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0808" y="4114800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dim_category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category_key</a:t>
            </a:r>
            <a:br/>
            <a:r>
              <a:t>category_id</a:t>
            </a:r>
            <a:br/>
            <a:r>
              <a:t>category_name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29000" y="2103120"/>
            <a:ext cx="1143000" cy="640080"/>
          </a:xfrm>
          <a:prstGeom prst="line">
            <a:avLst/>
          </a:prstGeom>
          <a:ln w="1905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29000" y="3337560"/>
            <a:ext cx="1143000" cy="1234440"/>
          </a:xfrm>
          <a:prstGeom prst="line">
            <a:avLst/>
          </a:prstGeom>
          <a:ln w="1905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543800" y="2103120"/>
            <a:ext cx="1005840" cy="640080"/>
          </a:xfrm>
          <a:prstGeom prst="line">
            <a:avLst/>
          </a:prstGeom>
          <a:ln w="1905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7543800" y="3337560"/>
            <a:ext cx="1005840" cy="1234440"/>
          </a:xfrm>
          <a:prstGeom prst="line">
            <a:avLst/>
          </a:prstGeom>
          <a:ln w="1905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6. SQL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The analytics layer demonstrates both business logic and advanced 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Aggregations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Monthly/daily revenue, order counts, average order value, product/category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544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Window Functions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Running revenue, 7-day rolling revenue, RANK(), DENSE_RANK(), and LAG().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554480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Business Analysis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Customer lifetime value, top products by category, state revenue and previous-order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7442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1280160"/>
          </a:xfrm>
          <a:prstGeom prst="rect">
            <a:avLst/>
          </a:prstGeom>
          <a:solidFill>
            <a:srgbClr val="32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79476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Reusable outputs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shopsphere_analytics.monthly_revenue • daily_revenue • product_performance • customer_lifetime_value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7. BI / Visualization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Five reporting views were prepared from curated and analytics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15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658368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63039"/>
            <a:ext cx="10195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Daily Revenue Trend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Line chart  •  Revenue over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31720"/>
            <a:ext cx="10195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Product Revenue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Bar chart  •  Highest-revenue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515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063239"/>
            <a:ext cx="73152" cy="658368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200399"/>
            <a:ext cx="10195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Category Revenue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Bar chart  •  Category contribution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10515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73152" cy="658368"/>
          </a:xfrm>
          <a:prstGeom prst="rect">
            <a:avLst/>
          </a:prstGeom>
          <a:solidFill>
            <a:srgbClr val="32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069080"/>
            <a:ext cx="10195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Top Customers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Bar chart  •  Lifetime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10515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800600"/>
            <a:ext cx="73152" cy="658368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937760"/>
            <a:ext cx="10195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Revenue by State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Bar chart  •  Geographic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8E6F7A-AA4E-B9A2-409D-14DE70CFF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2" t="27340" r="37374" b="20943"/>
          <a:stretch>
            <a:fillRect/>
          </a:stretch>
        </p:blipFill>
        <p:spPr>
          <a:xfrm>
            <a:off x="0" y="-83127"/>
            <a:ext cx="12191999" cy="734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0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685D9-87BE-ADB6-CDDB-FBA312EA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" t="27340" r="42761" b="21347"/>
          <a:stretch>
            <a:fillRect/>
          </a:stretch>
        </p:blipFill>
        <p:spPr>
          <a:xfrm>
            <a:off x="0" y="-46499"/>
            <a:ext cx="12192000" cy="69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6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BBBE0C-BF11-C13C-9454-43D0E0832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6" t="27340" r="42257" b="20539"/>
          <a:stretch>
            <a:fillRect/>
          </a:stretch>
        </p:blipFill>
        <p:spPr>
          <a:xfrm>
            <a:off x="-20792" y="-2852"/>
            <a:ext cx="12212792" cy="686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1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207D6B-FA16-BB87-0D34-3F5641BFF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7" t="27070" r="40151" b="20808"/>
          <a:stretch>
            <a:fillRect/>
          </a:stretch>
        </p:blipFill>
        <p:spPr>
          <a:xfrm>
            <a:off x="0" y="18664"/>
            <a:ext cx="12192000" cy="683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47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69F87-8A5A-48E2-BFD4-2978F3F20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9" t="27610" r="39731" b="21481"/>
          <a:stretch>
            <a:fillRect/>
          </a:stretch>
        </p:blipFill>
        <p:spPr>
          <a:xfrm>
            <a:off x="74154" y="1"/>
            <a:ext cx="12182501" cy="683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1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8. Query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EXPLAIN (ANALYZE, BUFFERS) was used to inspect real PostgreSQL execution plans.</a:t>
            </a:r>
          </a:p>
        </p:txBody>
      </p:sp>
      <p:pic>
        <p:nvPicPr>
          <p:cNvPr id="5" name="Picture 4" descr="Screenshot 2026-09-27 114322.png"/>
          <p:cNvPicPr>
            <a:picLocks noChangeAspect="1"/>
          </p:cNvPicPr>
          <p:nvPr/>
        </p:nvPicPr>
        <p:blipFill>
          <a:blip r:embed="rId2"/>
          <a:srcRect t="3310" b="6869"/>
          <a:stretch>
            <a:fillRect/>
          </a:stretch>
        </p:blipFill>
        <p:spPr>
          <a:xfrm>
            <a:off x="685800" y="1463039"/>
            <a:ext cx="6629400" cy="37216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17320"/>
            <a:ext cx="38862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417320"/>
            <a:ext cx="73152" cy="128016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68" y="155448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Observed plan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The small sample uses Hash Joins and Sequential Scans; this is reasonable when tables contain only a handful of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926080"/>
            <a:ext cx="38862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2926080"/>
            <a:ext cx="73152" cy="1280160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8" y="306324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Indexes added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order_date, customer_key, product_key, address_key plus staging join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434840"/>
            <a:ext cx="38862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4434840"/>
            <a:ext cx="73152" cy="1280160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457200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Important interpretation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Indexes are production-oriented; a tiny table can be faster to scan sequentially than to traverse an index.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484"/>
                </a:solidFill>
              </a:rPr>
              <a:t>ShopSphere Data Engineering Capstone  | 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8477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Production 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667484"/>
                </a:solidFill>
              </a:rPr>
              <a:t>How the same design can evolve beyond the classroom-sized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60704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very large fact tables by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scanned data.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selective indexes on common filters and foreign-key join columns.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from full refreshes to incremental ETL using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updated_at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watermarks.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idempotent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/merge patterns so reruns do not create duplicates.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large transformations and pre-aggregate high-frequency BI metrics.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planner statistics and regularly inspect expensive queries with EXPLAIN ANALYZE.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3D"/>
                </a:solidFill>
              </a:rPr>
              <a:t>10.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The implementation is organized so each phase can be reviewed independently.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156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73152" cy="73152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17319"/>
            <a:ext cx="10195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01_data_profiling.sql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Row counts, duplicates, email quality, orphan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21991"/>
            <a:ext cx="105156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221991"/>
            <a:ext cx="73152" cy="731520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1"/>
            <a:ext cx="10195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02_preprocessing.sql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Cleaning, standardization, validation, staging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163824"/>
            <a:ext cx="73152" cy="731520"/>
          </a:xfrm>
          <a:prstGeom prst="rect">
            <a:avLst/>
          </a:prstGeom>
          <a:solidFill>
            <a:srgbClr val="CA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300984"/>
            <a:ext cx="10195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03_curated_tables.sql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Dimensions, keys, constraints and fact_order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05656"/>
            <a:ext cx="105156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105656"/>
            <a:ext cx="73152" cy="731520"/>
          </a:xfrm>
          <a:prstGeom prst="rect">
            <a:avLst/>
          </a:prstGeom>
          <a:solidFill>
            <a:srgbClr val="32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242816"/>
            <a:ext cx="10195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04_analytics.sql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Business queries, CTEs, aggregations and window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47488"/>
            <a:ext cx="105156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5047488"/>
            <a:ext cx="73152" cy="731520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5184648"/>
            <a:ext cx="10195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263D"/>
                </a:solidFill>
              </a:defRPr>
            </a:pPr>
            <a:r>
              <a:t>05_query_optimization.sql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Indexes, EXPLAIN ANALYZE, statistics and scaling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6218"/>
            <a:ext cx="10241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FFC000"/>
                </a:solidFill>
              </a:rPr>
              <a:t>Built an end-to-end PostgreSQL data pipeline from raw source tables to BI-ready analytics.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FFC000"/>
                </a:solidFill>
              </a:rPr>
              <a:t>Applied explicit data-quality checks, deterministic deduplication logic and referential validation.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FFC000"/>
                </a:solidFill>
              </a:rPr>
              <a:t>Created a dimensional curated layer with surrogate keys and one-row-per-valid-order-item fact grain.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FFC000"/>
                </a:solidFill>
              </a:rPr>
              <a:t>Used advanced SQL for customer, product, revenue and time-series analytics.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FFC000"/>
                </a:solidFill>
              </a:rPr>
              <a:t>Added performance instrumentation and a practical production scaling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484"/>
                </a:solidFill>
              </a:rPr>
              <a:t>ShopSphere Data Engineering Capstone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73</TotalTime>
  <Words>947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Felix Titling</vt:lpstr>
      <vt:lpstr>Goudy Old Style</vt:lpstr>
      <vt:lpstr>Times New Roman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Rishikesh Ashok More</cp:lastModifiedBy>
  <cp:revision>4</cp:revision>
  <dcterms:created xsi:type="dcterms:W3CDTF">2013-01-27T09:14:16Z</dcterms:created>
  <dcterms:modified xsi:type="dcterms:W3CDTF">2026-09-28T17:49:41Z</dcterms:modified>
  <cp:category/>
</cp:coreProperties>
</file>